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Сегменты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Occasional</c:v>
                </c:pt>
                <c:pt idx="1">
                  <c:v>Regular</c:v>
                </c:pt>
                <c:pt idx="2">
                  <c:v>Loyal</c:v>
                </c:pt>
                <c:pt idx="3">
                  <c:v>High_Value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44.2</c:v>
                </c:pt>
                <c:pt idx="1">
                  <c:v>26.9</c:v>
                </c:pt>
                <c:pt idx="2">
                  <c:v>18.3</c:v>
                </c:pt>
                <c:pt idx="3">
                  <c:v>10.6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Средний LTV по сегментам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LTV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High_Value</c:v>
                  </c:pt>
                  <c:pt idx="1">
                    <c:v>Loyal</c:v>
                  </c:pt>
                  <c:pt idx="2">
                    <c:v>Occasional</c:v>
                  </c:pt>
                  <c:pt idx="3">
                    <c:v>Regular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21400</c:v>
                </c:pt>
                <c:pt idx="1">
                  <c:v>10800</c:v>
                </c:pt>
                <c:pt idx="2">
                  <c:v>8900</c:v>
                </c:pt>
                <c:pt idx="3">
                  <c:v>8600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расход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Urban</c:v>
                  </c:pt>
                  <c:pt idx="1">
                    <c:v>Semi-Urban</c:v>
                  </c:pt>
                  <c:pt idx="2">
                    <c:v>Rural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352</c:v>
                </c:pt>
                <c:pt idx="1">
                  <c:v>338</c:v>
                </c:pt>
                <c:pt idx="2">
                  <c:v>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расход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Urban</c:v>
                  </c:pt>
                  <c:pt idx="1">
                    <c:v>Rural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352</c:v>
                </c:pt>
                <c:pt idx="1">
                  <c:v>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17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Низкий дисконт</c:v>
                  </c:pt>
                  <c:pt idx="1">
                    <c:v>Высокий дисконт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17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Arial"/>
              </a:rPr>
              <a:t>Важность признаков (коэффициенты модели)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Коэффициент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purchase_frequency</c:v>
                  </c:pt>
                  <c:pt idx="1">
                    <c:v>avg_order_value</c:v>
                  </c:pt>
                  <c:pt idx="2">
                    <c:v>months_active</c:v>
                  </c:pt>
                  <c:pt idx="3">
                    <c:v>annual_income</c:v>
                  </c:pt>
                  <c:pt idx="4">
                    <c:v>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0.54</c:v>
                </c:pt>
                <c:pt idx="2">
                  <c:v>0.31</c:v>
                </c:pt>
                <c:pt idx="3">
                  <c:v>0.18</c:v>
                </c:pt>
                <c:pt idx="4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</a:rPr>
              <a:t>Tech-orda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Анализ поведения 50 000 клиентов интернет-магазина: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сегментация, LTV, гипотезы и бизнес-рекомендации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Python · Pandas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SQL · 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Scikit-learn · SciPy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О ПРОЕКТЕ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Ответы на ключевые вопросы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НАЗВАНИЕ ПРОЕКТА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Retail Customer Segmentation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ПРОБЛЕМА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37560" y="15361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Единая стратегия для всех клиентов — деньги тратятся впустую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ЦЕЛЕВАЯ АУДИТОРИЯ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15361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Маркетинговая команда и руководство интернет-магазина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ПОЧЕМУ ВАЖНО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1821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10% клиентов приносят непропорционально большую выручку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ГЛАВНЫЙ ВОПРОС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31821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Кто наш ценный клиент и как его удержать?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РЕЗУЛЬТАТ ДЛЯ ЗАКАЗЧИКА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72200" y="31821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Сегменты, LTV, дашборд и конкретные рекомендации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ДАТАСЕТ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Структура данных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50 000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строк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14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колонок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сегмента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097280"/>
            <a:ext cx="1920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~5%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494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пропусков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242316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Колонка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annual_income, months_active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Демография клиента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avg_monthly_spend, avg_order_value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Финансовые метрики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purchase_frequency, discount_usage_rate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Поведение покупателя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return_rate, support_interactions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Лояльность и сервис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payment_method,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Категориальные признаки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customer_segment  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Целевая переменная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ОБРАБОТКА ДАННЫХ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Data Preparation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83080" y="1874520"/>
            <a:ext cx="2743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417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Загрузка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19456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Импорт датасета через pandas, проверка типов и структуры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743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188720"/>
            <a:ext cx="1417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188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30552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Осмотр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0552" y="219456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head(), info(), describe() — первый взгляд на данные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66360" y="1874520"/>
            <a:ext cx="2743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188720"/>
            <a:ext cx="1417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188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22192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Очистка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219456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Удаление дублей, заполнение пропусков медианой (~5%)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1874520"/>
            <a:ext cx="2743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188720"/>
            <a:ext cx="1417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188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13832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Инжиниринг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219456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Создан новый признак estimated_ltv = order × freq × months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1188720"/>
            <a:ext cx="1417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188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05472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SQL-анализ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05472" y="219456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Подключение к PostgreSQL, 10 запросов с CTE и window functions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АНАЛИЗ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Распределение клиентов по сегментам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480560" y="1051560"/>
          <a:ext cx="4480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АНАЛИЗ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Средний расход по регионам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9728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📍  Urban лидирует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508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Городские клиенты тратят в среднем на 18% больше сельских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242316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42316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🌱  Semi-Urban — потенциал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Наибольший прирост Loyal-сегмента — здесь скрытый рост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74904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74904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📦  Rural — стабильность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Меньший чек, но высокая лояльность и низкий return_rate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ГИПОТЕЗЫ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Проверка статистических гипотез (t-test)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Гипотеза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Urban тратят больше Rural?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210312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✅  p-value &lt; 0.05 — подтверждена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20624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Гипотеза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0060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Скидочники тратят меньше?</a:t>
            </a:r>
            <a:endParaRPr lang="en-US" sz="16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663440" y="210312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8006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✅  p-value &lt; 0.05 — подтверждена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Линейная регрессия — предсказание расходов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R² = 0.71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модель объясняет 71% вариации расходов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MAE = 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средняя ошибка предсказания в единицах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2240280"/>
          <a:ext cx="8412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Ключевые выводы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High_Value — всего 10.6% клиентов, но их LTV в 2.5× выше Occasional. Это главный сегмент для удержания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Urban тратят на 18% больше Rural — статистически значимо (p &lt; 0.05). Рекламный бюджет стоит сместить в города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Клиенты с высоким discount_usage тратят на 13% меньше. Скидки привлекают нелояльную аудиторию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02336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Модель предсказывает расходы с R² = 0.71. Ключевые факторы: частота покупок и средний чек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РЕКОМЕНДАЦИИ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Что делать бизнесу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52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🎯  Персонализировать коммуникацию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High Value и Loyal — эксклюзивный сервис без скидок. Occasional — триггерные акции с ограниченным сроком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52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📍  Сфокусироваться на Semi-Urban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Наибольший потенциал роста. Расширить доставку и запустить локальные акции для Loyal-сегмента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272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🔒  Снизить зависимость от скидок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5204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Заменить скидки программой лояльности с баллами — это удержит клиентов без потери среднего чека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1272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💳  Продвигать Wallet-оплату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5204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Клиенты с Wallet платят в среднем больше. Добавить бонусы за оплату через Wallet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Спасибо за внимание!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Retail Customer Segmentation · Tech-orda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1031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Python · Pandas · Seaborn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21031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SQL · PostgreSQL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3200400"/>
            <a:ext cx="21031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Power BI · Scikit-learn · SciPy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github.com/yourhandle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Segmentation</dc:title>
  <dc:subject>PptxGenJS Presentation</dc:subject>
  <dc:creator>PptxGenJS</dc:creator>
  <cp:lastModifiedBy>PptxGenJS</cp:lastModifiedBy>
  <cp:revision>1</cp:revision>
  <dcterms:created xsi:type="dcterms:W3CDTF">2026-05-16T08:18:23Z</dcterms:created>
  <dcterms:modified xsi:type="dcterms:W3CDTF">2026-05-16T08:18:23Z</dcterms:modified>
</cp:coreProperties>
</file>